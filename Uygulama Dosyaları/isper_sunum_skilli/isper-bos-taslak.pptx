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ÜBRA ÖZLEM USLU AYDIN" initials="KÖUA" lastIdx="2" clrIdx="0">
    <p:extLst>
      <p:ext uri="{19B8F6BF-5375-455C-9EA6-DF929625EA0E}">
        <p15:presenceInfo xmlns:p15="http://schemas.microsoft.com/office/powerpoint/2012/main" userId="S-1-5-21-1270047004-1500713695-2192402277-142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E0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011" autoAdjust="0"/>
    <p:restoredTop sz="88060" autoAdjust="0"/>
  </p:normalViewPr>
  <p:slideViewPr>
    <p:cSldViewPr snapToGrid="0">
      <p:cViewPr>
        <p:scale>
          <a:sx n="78" d="100"/>
          <a:sy n="78" d="100"/>
        </p:scale>
        <p:origin x="32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197"/>
    </p:cViewPr>
  </p:sorterViewPr>
  <p:notesViewPr>
    <p:cSldViewPr snapToGrid="0">
      <p:cViewPr varScale="1">
        <p:scale>
          <a:sx n="85" d="100"/>
          <a:sy n="85" d="100"/>
        </p:scale>
        <p:origin x="3802" y="67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24" Type="http://schemas.openxmlformats.org/officeDocument/2006/relationships/tableStyles" Target="tableStyles.xml"/><Relationship Id="rId23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22" Type="http://schemas.openxmlformats.org/officeDocument/2006/relationships/viewProps" Target="viewProp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charts/_rels/chart1.xml.rels><?xml version="1.0" encoding="UTF-8"?><Relationships xmlns="http://schemas.openxmlformats.org/package/2006/relationships"><Relationship Id="rId3" Type="http://schemas.openxmlformats.org/officeDocument/2006/relationships/oleObject" Target="file:///C:\Users\kubra.aydin1\Desktop\Sunum%20Grafik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?><Relationships xmlns="http://schemas.openxmlformats.org/package/2006/relationships"><Relationship Id="rId3" Type="http://schemas.openxmlformats.org/officeDocument/2006/relationships/oleObject" Target="file:///C:\Users\kubra.aydin1\Desktop\Sunum%20Grafik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?><Relationships xmlns="http://schemas.openxmlformats.org/package/2006/relationships"><Relationship Id="rId3" Type="http://schemas.openxmlformats.org/officeDocument/2006/relationships/oleObject" Target="file:///C:\Users\furka\Desktop\&#214;ZLEM_&#304;SPER_&#304;SG\Sunum%20Grafik%20son%20(1)(Otomatik%20Kurtar&#305;ld&#305;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?><Relationships xmlns="http://schemas.openxmlformats.org/package/2006/relationships"><Relationship Id="rId3" Type="http://schemas.openxmlformats.org/officeDocument/2006/relationships/oleObject" Target="Microsoft%20PowerPoint%20uygulamas&#305;nda%20grafik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228840206855329E-2"/>
          <c:y val="6.2672005198379316E-2"/>
          <c:w val="0.81892790744906885"/>
          <c:h val="0.73577136191309422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'PERSONEL TOPLAM İŞ KAZASI'!$B$1</c:f>
              <c:strCache>
                <c:ptCount val="1"/>
                <c:pt idx="0">
                  <c:v>Personel Sayısı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366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E59-4CF2-8B28-204E1860DD2E}"/>
              </c:ext>
            </c:extLst>
          </c:dPt>
          <c:dPt>
            <c:idx val="1"/>
            <c:invertIfNegative val="0"/>
            <c:bubble3D val="0"/>
            <c:spPr>
              <a:solidFill>
                <a:srgbClr val="3366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E59-4CF2-8B28-204E1860DD2E}"/>
              </c:ext>
            </c:extLst>
          </c:dPt>
          <c:dPt>
            <c:idx val="2"/>
            <c:invertIfNegative val="0"/>
            <c:bubble3D val="0"/>
            <c:spPr>
              <a:solidFill>
                <a:srgbClr val="3366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E59-4CF2-8B28-204E1860DD2E}"/>
              </c:ext>
            </c:extLst>
          </c:dPt>
          <c:dPt>
            <c:idx val="3"/>
            <c:invertIfNegative val="0"/>
            <c:bubble3D val="0"/>
            <c:spPr>
              <a:solidFill>
                <a:srgbClr val="3366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E59-4CF2-8B28-204E1860DD2E}"/>
              </c:ext>
            </c:extLst>
          </c:dPt>
          <c:dPt>
            <c:idx val="4"/>
            <c:invertIfNegative val="0"/>
            <c:bubble3D val="0"/>
            <c:spPr>
              <a:solidFill>
                <a:srgbClr val="3366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E59-4CF2-8B28-204E1860DD2E}"/>
              </c:ext>
            </c:extLst>
          </c:dPt>
          <c:dPt>
            <c:idx val="5"/>
            <c:invertIfNegative val="0"/>
            <c:bubble3D val="0"/>
            <c:spPr>
              <a:solidFill>
                <a:srgbClr val="3366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E59-4CF2-8B28-204E1860DD2E}"/>
              </c:ext>
            </c:extLst>
          </c:dPt>
          <c:dPt>
            <c:idx val="6"/>
            <c:invertIfNegative val="0"/>
            <c:bubble3D val="0"/>
            <c:spPr>
              <a:solidFill>
                <a:srgbClr val="3366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8E59-4CF2-8B28-204E1860DD2E}"/>
              </c:ext>
            </c:extLst>
          </c:dPt>
          <c:dPt>
            <c:idx val="7"/>
            <c:invertIfNegative val="0"/>
            <c:bubble3D val="0"/>
            <c:spPr>
              <a:solidFill>
                <a:srgbClr val="3366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8E59-4CF2-8B28-204E1860DD2E}"/>
              </c:ext>
            </c:extLst>
          </c:dPt>
          <c:dLbls>
            <c:spPr>
              <a:solidFill>
                <a:schemeClr val="lt1"/>
              </a:solidFill>
              <a:ln>
                <a:solidFill>
                  <a:schemeClr val="dk1">
                    <a:lumMod val="25000"/>
                    <a:lumOff val="75000"/>
                  </a:scheme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tr-T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'PERSONEL TOPLAM İŞ KAZASI'!$A$2:$A$9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'PERSONEL TOPLAM İŞ KAZASI'!$B$2:$B$9</c:f>
              <c:numCache>
                <c:formatCode>#,##0</c:formatCode>
                <c:ptCount val="8"/>
                <c:pt idx="0">
                  <c:v>10393.5</c:v>
                </c:pt>
                <c:pt idx="1">
                  <c:v>13237</c:v>
                </c:pt>
                <c:pt idx="2">
                  <c:v>13959.333333333334</c:v>
                </c:pt>
                <c:pt idx="3">
                  <c:v>15600.75</c:v>
                </c:pt>
                <c:pt idx="4">
                  <c:v>16735.5</c:v>
                </c:pt>
                <c:pt idx="5">
                  <c:v>18978.333333333332</c:v>
                </c:pt>
                <c:pt idx="6">
                  <c:v>21533.333333333332</c:v>
                </c:pt>
                <c:pt idx="7">
                  <c:v>22468.090909090908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E59-4CF2-8B28-204E1860DD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44368592"/>
        <c:axId val="344367760"/>
      </c:barChart>
      <c:lineChart>
        <c:grouping val="standard"/>
        <c:varyColors val="0"/>
        <c:ser>
          <c:idx val="2"/>
          <c:order val="1"/>
          <c:tx>
            <c:strRef>
              <c:f>'PERSONEL TOPLAM İŞ KAZASI'!$C$1</c:f>
              <c:strCache>
                <c:ptCount val="1"/>
                <c:pt idx="0">
                  <c:v>Toplam İş Kazası Sayısı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6.4717003196382824E-3"/>
                  <c:y val="7.239128892672207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8E59-4CF2-8B28-204E1860DD2E}"/>
                </c:ext>
              </c:extLst>
            </c:dLbl>
            <c:dLbl>
              <c:idx val="1"/>
              <c:layout>
                <c:manualLayout>
                  <c:x val="1.0597112860892389E-2"/>
                  <c:y val="5.737627391170691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8E59-4CF2-8B28-204E1860DD2E}"/>
                </c:ext>
              </c:extLst>
            </c:dLbl>
            <c:dLbl>
              <c:idx val="2"/>
              <c:layout>
                <c:manualLayout>
                  <c:x val="6.4717003196382633E-3"/>
                  <c:y val="2.734624388167695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8E59-4CF2-8B28-204E1860DD2E}"/>
                </c:ext>
              </c:extLst>
            </c:dLbl>
            <c:dLbl>
              <c:idx val="3"/>
              <c:layout>
                <c:manualLayout>
                  <c:x val="4.4089940490112008E-3"/>
                  <c:y val="8.5774751129081839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8E59-4CF2-8B28-204E1860DD2E}"/>
                </c:ext>
              </c:extLst>
            </c:dLbl>
            <c:dLbl>
              <c:idx val="6"/>
              <c:layout>
                <c:manualLayout>
                  <c:x val="-1.6749174917491748E-2"/>
                  <c:y val="-3.670520914615402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8E59-4CF2-8B28-204E1860DD2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endParaRPr lang="tr-T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'PERSONEL TOPLAM İŞ KAZASI'!$C$2:$C$9</c:f>
              <c:numCache>
                <c:formatCode>General</c:formatCode>
                <c:ptCount val="8"/>
                <c:pt idx="0">
                  <c:v>519</c:v>
                </c:pt>
                <c:pt idx="1">
                  <c:v>566</c:v>
                </c:pt>
                <c:pt idx="2">
                  <c:v>518</c:v>
                </c:pt>
                <c:pt idx="3">
                  <c:v>744</c:v>
                </c:pt>
                <c:pt idx="4" formatCode="#,##0">
                  <c:v>1285</c:v>
                </c:pt>
                <c:pt idx="5" formatCode="#,##0">
                  <c:v>1314</c:v>
                </c:pt>
                <c:pt idx="6" formatCode="#,##0">
                  <c:v>1492</c:v>
                </c:pt>
                <c:pt idx="7" formatCode="#,##0">
                  <c:v>1397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6-8E59-4CF2-8B28-204E1860DD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67361472"/>
        <c:axId val="1367361056"/>
      </c:lineChart>
      <c:catAx>
        <c:axId val="344368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344367760"/>
        <c:crosses val="autoZero"/>
        <c:auto val="1"/>
        <c:lblAlgn val="ctr"/>
        <c:lblOffset val="100"/>
        <c:noMultiLvlLbl val="0"/>
      </c:catAx>
      <c:valAx>
        <c:axId val="344367760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344368592"/>
        <c:crosses val="autoZero"/>
        <c:crossBetween val="between"/>
      </c:valAx>
      <c:valAx>
        <c:axId val="1367361056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1367361472"/>
        <c:crosses val="max"/>
        <c:crossBetween val="between"/>
      </c:valAx>
      <c:catAx>
        <c:axId val="1367361472"/>
        <c:scaling>
          <c:orientation val="minMax"/>
        </c:scaling>
        <c:delete val="1"/>
        <c:axPos val="b"/>
        <c:majorTickMark val="out"/>
        <c:minorTickMark val="none"/>
        <c:tickLblPos val="nextTo"/>
        <c:crossAx val="136736105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tr-T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tr-T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'Personel artış oranı iş kazası '!$B$1</c:f>
              <c:strCache>
                <c:ptCount val="1"/>
                <c:pt idx="0">
                  <c:v>Personel Sayısı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tr-T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'Personel artış oranı iş kazası '!$A$2:$A$9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'Personel artış oranı iş kazası '!$B$2:$B$9</c:f>
            </c:numRef>
          </c:val>
          <c:smooth val="0"/>
          <c:extLst>
            <c:ext xmlns:c16="http://schemas.microsoft.com/office/drawing/2014/chart" uri="{C3380CC4-5D6E-409C-BE32-E72D297353CC}">
              <c16:uniqueId val="{00000000-53ED-42B1-B337-1B91D548892D}"/>
            </c:ext>
          </c:extLst>
        </c:ser>
        <c:ser>
          <c:idx val="1"/>
          <c:order val="1"/>
          <c:tx>
            <c:strRef>
              <c:f>'Personel artış oranı iş kazası '!$C$1</c:f>
              <c:strCache>
                <c:ptCount val="1"/>
                <c:pt idx="0">
                  <c:v>Toplam İş Kazası Sayısı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tr-T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'Personel artış oranı iş kazası '!$A$2:$A$9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'Personel artış oranı iş kazası '!$C$2:$C$9</c:f>
            </c:numRef>
          </c:val>
          <c:smooth val="0"/>
          <c:extLst>
            <c:ext xmlns:c16="http://schemas.microsoft.com/office/drawing/2014/chart" uri="{C3380CC4-5D6E-409C-BE32-E72D297353CC}">
              <c16:uniqueId val="{00000001-53ED-42B1-B337-1B91D548892D}"/>
            </c:ext>
          </c:extLst>
        </c:ser>
        <c:ser>
          <c:idx val="2"/>
          <c:order val="2"/>
          <c:tx>
            <c:strRef>
              <c:f>'Personel artış oranı iş kazası '!$D$1</c:f>
              <c:strCache>
                <c:ptCount val="1"/>
                <c:pt idx="0">
                  <c:v>Personel İş Kazası Oranı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tr-T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'Personel artış oranı iş kazası '!$A$2:$A$9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'Personel artış oranı iş kazası '!$D$2:$D$9</c:f>
            </c:numRef>
          </c:val>
          <c:smooth val="0"/>
          <c:extLst>
            <c:ext xmlns:c16="http://schemas.microsoft.com/office/drawing/2014/chart" uri="{C3380CC4-5D6E-409C-BE32-E72D297353CC}">
              <c16:uniqueId val="{00000002-53ED-42B1-B337-1B91D548892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851438080"/>
        <c:axId val="1851432256"/>
      </c:lineChart>
      <c:lineChart>
        <c:grouping val="standard"/>
        <c:varyColors val="0"/>
        <c:ser>
          <c:idx val="3"/>
          <c:order val="3"/>
          <c:tx>
            <c:strRef>
              <c:f>'Personel artış oranı iş kazası '!$E$1</c:f>
              <c:strCache>
                <c:ptCount val="1"/>
                <c:pt idx="0">
                  <c:v>İş Kazası Artış Oranı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3.3887365307202377E-2"/>
                  <c:y val="-4.273504273504273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D9A-4A36-81E4-D8E0E394A48C}"/>
                </c:ext>
              </c:extLst>
            </c:dLbl>
            <c:dLbl>
              <c:idx val="2"/>
              <c:layout>
                <c:manualLayout>
                  <c:x val="-4.5672247806660356E-2"/>
                  <c:y val="6.574621959237343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D9A-4A36-81E4-D8E0E394A48C}"/>
                </c:ext>
              </c:extLst>
            </c:dLbl>
            <c:dLbl>
              <c:idx val="3"/>
              <c:layout>
                <c:manualLayout>
                  <c:x val="-4.9332869705116793E-2"/>
                  <c:y val="-6.903353057199214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D9A-4A36-81E4-D8E0E394A48C}"/>
                </c:ext>
              </c:extLst>
            </c:dLbl>
            <c:dLbl>
              <c:idx val="4"/>
              <c:layout>
                <c:manualLayout>
                  <c:x val="-3.8631596450210776E-2"/>
                  <c:y val="-2.301117685733070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D9A-4A36-81E4-D8E0E394A48C}"/>
                </c:ext>
              </c:extLst>
            </c:dLbl>
            <c:dLbl>
              <c:idx val="5"/>
              <c:layout>
                <c:manualLayout>
                  <c:x val="-9.0960822666701122E-2"/>
                  <c:y val="-2.958579881656816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D9A-4A36-81E4-D8E0E394A48C}"/>
                </c:ext>
              </c:extLst>
            </c:dLbl>
            <c:dLbl>
              <c:idx val="6"/>
              <c:layout>
                <c:manualLayout>
                  <c:x val="2.7359588621709709E-2"/>
                  <c:y val="-4.602235371466146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D9A-4A36-81E4-D8E0E394A48C}"/>
                </c:ext>
              </c:extLst>
            </c:dLbl>
            <c:dLbl>
              <c:idx val="7"/>
              <c:layout>
                <c:manualLayout>
                  <c:x val="6.0505729253854425E-3"/>
                  <c:y val="-5.917159763313609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D9A-4A36-81E4-D8E0E394A48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endParaRPr lang="tr-T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'Personel artış oranı iş kazası '!$A$2:$A$9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'Personel artış oranı iş kazası '!$E$2:$E$9</c:f>
              <c:numCache>
                <c:formatCode>0.0%</c:formatCode>
                <c:ptCount val="8"/>
                <c:pt idx="1">
                  <c:v>9.055876685934483E-2</c:v>
                </c:pt>
                <c:pt idx="2">
                  <c:v>-8.4805653710247397E-2</c:v>
                </c:pt>
                <c:pt idx="3">
                  <c:v>0.43629343629343631</c:v>
                </c:pt>
                <c:pt idx="4">
                  <c:v>0.72715053763440851</c:v>
                </c:pt>
                <c:pt idx="5">
                  <c:v>2.2568093385213928E-2</c:v>
                </c:pt>
                <c:pt idx="6">
                  <c:v>0.13546423135464236</c:v>
                </c:pt>
                <c:pt idx="7">
                  <c:v>-6.3672922252010711E-2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3ED-42B1-B337-1B91D548892D}"/>
            </c:ext>
          </c:extLst>
        </c:ser>
        <c:ser>
          <c:idx val="4"/>
          <c:order val="4"/>
          <c:tx>
            <c:strRef>
              <c:f>'Personel artış oranı iş kazası '!$F$1</c:f>
              <c:strCache>
                <c:ptCount val="1"/>
                <c:pt idx="0">
                  <c:v>Personel Artış Oranı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3.8631596450210713E-2"/>
                  <c:y val="-4.930966469428013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D9A-4A36-81E4-D8E0E394A48C}"/>
                </c:ext>
              </c:extLst>
            </c:dLbl>
            <c:dLbl>
              <c:idx val="2"/>
              <c:layout>
                <c:manualLayout>
                  <c:x val="-3.0320274222233708E-2"/>
                  <c:y val="-7.232084155161078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D9A-4A36-81E4-D8E0E394A48C}"/>
                </c:ext>
              </c:extLst>
            </c:dLbl>
            <c:dLbl>
              <c:idx val="3"/>
              <c:layout>
                <c:manualLayout>
                  <c:x val="-3.5064505365242103E-2"/>
                  <c:y val="-4.602235371466140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D9A-4A36-81E4-D8E0E394A48C}"/>
                </c:ext>
              </c:extLst>
            </c:dLbl>
            <c:dLbl>
              <c:idx val="4"/>
              <c:layout>
                <c:manualLayout>
                  <c:x val="-3.5670910849686779E-2"/>
                  <c:y val="-6.903353057199211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D9A-4A36-81E4-D8E0E394A48C}"/>
                </c:ext>
              </c:extLst>
            </c:dLbl>
            <c:dLbl>
              <c:idx val="5"/>
              <c:layout>
                <c:manualLayout>
                  <c:x val="-4.2198687535179386E-2"/>
                  <c:y val="-8.218277449046686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D9A-4A36-81E4-D8E0E394A48C}"/>
                </c:ext>
              </c:extLst>
            </c:dLbl>
            <c:dLbl>
              <c:idx val="6"/>
              <c:layout>
                <c:manualLayout>
                  <c:x val="-3.3280959822757701E-2"/>
                  <c:y val="-0.1216305062458908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D9A-4A36-81E4-D8E0E394A48C}"/>
                </c:ext>
              </c:extLst>
            </c:dLbl>
            <c:dLbl>
              <c:idx val="7"/>
              <c:layout>
                <c:manualLayout>
                  <c:x val="-1.9619000967327691E-2"/>
                  <c:y val="-6.574621959237343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D9A-4A36-81E4-D8E0E394A48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rgbClr val="336699"/>
                    </a:solidFill>
                    <a:latin typeface="+mn-lt"/>
                    <a:ea typeface="+mn-ea"/>
                    <a:cs typeface="+mn-cs"/>
                  </a:defRPr>
                </a:pPr>
                <a:endParaRPr lang="tr-T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'Personel artış oranı iş kazası '!$A$2:$A$9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'Personel artış oranı iş kazası '!$F$2:$F$9</c:f>
              <c:numCache>
                <c:formatCode>0.0%</c:formatCode>
                <c:ptCount val="8"/>
                <c:pt idx="1">
                  <c:v>0.27358445182084967</c:v>
                </c:pt>
                <c:pt idx="2">
                  <c:v>5.4569262924630602E-2</c:v>
                </c:pt>
                <c:pt idx="3">
                  <c:v>0.11758560580734501</c:v>
                </c:pt>
                <c:pt idx="4">
                  <c:v>7.2736887649632154E-2</c:v>
                </c:pt>
                <c:pt idx="5">
                  <c:v>0.13401651180624019</c:v>
                </c:pt>
                <c:pt idx="6">
                  <c:v>0.13462720646351101</c:v>
                </c:pt>
                <c:pt idx="7">
                  <c:v>4.3409794539825519E-2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3ED-42B1-B337-1B91D548892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05741504"/>
        <c:axId val="2005735264"/>
      </c:lineChart>
      <c:catAx>
        <c:axId val="1851438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25400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1851432256"/>
        <c:crosses val="autoZero"/>
        <c:auto val="1"/>
        <c:lblAlgn val="ctr"/>
        <c:lblOffset val="100"/>
        <c:noMultiLvlLbl val="0"/>
      </c:catAx>
      <c:valAx>
        <c:axId val="1851432256"/>
        <c:scaling>
          <c:orientation val="minMax"/>
        </c:scaling>
        <c:delete val="1"/>
        <c:axPos val="l"/>
        <c:numFmt formatCode="0.0%" sourceLinked="0"/>
        <c:majorTickMark val="none"/>
        <c:minorTickMark val="none"/>
        <c:tickLblPos val="nextTo"/>
        <c:crossAx val="1851438080"/>
        <c:crosses val="autoZero"/>
        <c:crossBetween val="between"/>
      </c:valAx>
      <c:valAx>
        <c:axId val="2005735264"/>
        <c:scaling>
          <c:orientation val="minMax"/>
        </c:scaling>
        <c:delete val="1"/>
        <c:axPos val="r"/>
        <c:numFmt formatCode="0.0%" sourceLinked="0"/>
        <c:majorTickMark val="out"/>
        <c:minorTickMark val="none"/>
        <c:tickLblPos val="nextTo"/>
        <c:crossAx val="2005741504"/>
        <c:crosses val="max"/>
        <c:crossBetween val="between"/>
      </c:valAx>
      <c:catAx>
        <c:axId val="200574150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0573526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tr-T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tr-T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'eğitimli personel'!$D$1</c:f>
              <c:strCache>
                <c:ptCount val="1"/>
                <c:pt idx="0">
                  <c:v>Personel İş Kazası Oranı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'eğitimli personel'!$A$5:$A$9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  <c:extLst/>
            </c:numRef>
          </c:cat>
          <c:val>
            <c:numRef>
              <c:f>'eğitimli personel'!$D$5:$D$9</c:f>
              <c:extLst/>
            </c:numRef>
          </c:val>
          <c:extLst>
            <c:ext xmlns:c16="http://schemas.microsoft.com/office/drawing/2014/chart" uri="{C3380CC4-5D6E-409C-BE32-E72D297353CC}">
              <c16:uniqueId val="{00000000-DBA5-45FD-80A4-FDBD7C22CD5A}"/>
            </c:ext>
          </c:extLst>
        </c:ser>
        <c:ser>
          <c:idx val="3"/>
          <c:order val="3"/>
          <c:tx>
            <c:strRef>
              <c:f>'eğitimli personel'!$E$1</c:f>
              <c:strCache>
                <c:ptCount val="1"/>
                <c:pt idx="0">
                  <c:v>İş Kazası Artış Oranı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'eğitimli personel'!$A$5:$A$9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  <c:extLst/>
            </c:numRef>
          </c:cat>
          <c:val>
            <c:numRef>
              <c:f>'eğitimli personel'!$E$5:$E$9</c:f>
              <c:extLst/>
            </c:numRef>
          </c:val>
          <c:extLst>
            <c:ext xmlns:c16="http://schemas.microsoft.com/office/drawing/2014/chart" uri="{C3380CC4-5D6E-409C-BE32-E72D297353CC}">
              <c16:uniqueId val="{00000001-DBA5-45FD-80A4-FDBD7C22CD5A}"/>
            </c:ext>
          </c:extLst>
        </c:ser>
        <c:ser>
          <c:idx val="4"/>
          <c:order val="4"/>
          <c:tx>
            <c:strRef>
              <c:f>'eğitimli personel'!$F$1</c:f>
              <c:strCache>
                <c:ptCount val="1"/>
                <c:pt idx="0">
                  <c:v>Personel Artış Oranı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'eğitimli personel'!$A$5:$A$9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  <c:extLst/>
            </c:numRef>
          </c:cat>
          <c:val>
            <c:numRef>
              <c:f>'eğitimli personel'!$F$5:$F$9</c:f>
              <c:extLst/>
            </c:numRef>
          </c:val>
          <c:extLst>
            <c:ext xmlns:c16="http://schemas.microsoft.com/office/drawing/2014/chart" uri="{C3380CC4-5D6E-409C-BE32-E72D297353CC}">
              <c16:uniqueId val="{00000002-DBA5-45FD-80A4-FDBD7C22CD5A}"/>
            </c:ext>
          </c:extLst>
        </c:ser>
        <c:ser>
          <c:idx val="5"/>
          <c:order val="5"/>
          <c:tx>
            <c:strRef>
              <c:f>'eğitimli personel'!$G$1</c:f>
              <c:strCache>
                <c:ptCount val="1"/>
                <c:pt idx="0">
                  <c:v>Personel Küm. Artış Oranı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'eğitimli personel'!$A$5:$A$9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  <c:extLst/>
            </c:numRef>
          </c:cat>
          <c:val>
            <c:numRef>
              <c:f>'eğitimli personel'!$G$5:$G$9</c:f>
              <c:extLst/>
            </c:numRef>
          </c:val>
          <c:extLst>
            <c:ext xmlns:c16="http://schemas.microsoft.com/office/drawing/2014/chart" uri="{C3380CC4-5D6E-409C-BE32-E72D297353CC}">
              <c16:uniqueId val="{00000003-DBA5-45FD-80A4-FDBD7C22CD5A}"/>
            </c:ext>
          </c:extLst>
        </c:ser>
        <c:ser>
          <c:idx val="6"/>
          <c:order val="6"/>
          <c:tx>
            <c:strRef>
              <c:f>'eğitimli personel'!$H$1</c:f>
              <c:strCache>
                <c:ptCount val="1"/>
                <c:pt idx="0">
                  <c:v>Personel Küm. Artış Oranı 2019 sonrası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'eğitimli personel'!$A$5:$A$9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  <c:extLst/>
            </c:numRef>
          </c:cat>
          <c:val>
            <c:numRef>
              <c:f>'eğitimli personel'!$H$5:$H$9</c:f>
              <c:extLst/>
            </c:numRef>
          </c:val>
          <c:extLst>
            <c:ext xmlns:c16="http://schemas.microsoft.com/office/drawing/2014/chart" uri="{C3380CC4-5D6E-409C-BE32-E72D297353CC}">
              <c16:uniqueId val="{00000004-DBA5-45FD-80A4-FDBD7C22CD5A}"/>
            </c:ext>
          </c:extLst>
        </c:ser>
        <c:ser>
          <c:idx val="7"/>
          <c:order val="7"/>
          <c:tx>
            <c:strRef>
              <c:f>'eğitimli personel'!$I$1</c:f>
              <c:strCache>
                <c:ptCount val="1"/>
                <c:pt idx="0">
                  <c:v>İş Kazası Küm. Artış Oranı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'eğitimli personel'!$A$5:$A$9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  <c:extLst/>
            </c:numRef>
          </c:cat>
          <c:val>
            <c:numRef>
              <c:f>'eğitimli personel'!$I$5:$I$9</c:f>
              <c:extLst/>
            </c:numRef>
          </c:val>
          <c:extLst>
            <c:ext xmlns:c16="http://schemas.microsoft.com/office/drawing/2014/chart" uri="{C3380CC4-5D6E-409C-BE32-E72D297353CC}">
              <c16:uniqueId val="{00000005-DBA5-45FD-80A4-FDBD7C22CD5A}"/>
            </c:ext>
          </c:extLst>
        </c:ser>
        <c:ser>
          <c:idx val="8"/>
          <c:order val="8"/>
          <c:tx>
            <c:strRef>
              <c:f>'eğitimli personel'!$J$1</c:f>
              <c:strCache>
                <c:ptCount val="1"/>
                <c:pt idx="0">
                  <c:v>Kaza Ağırlık Oranı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'eğitimli personel'!$A$5:$A$9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  <c:extLst/>
            </c:numRef>
          </c:cat>
          <c:val>
            <c:numRef>
              <c:f>'eğitimli personel'!$J$5:$J$9</c:f>
              <c:extLst/>
            </c:numRef>
          </c:val>
          <c:extLst>
            <c:ext xmlns:c16="http://schemas.microsoft.com/office/drawing/2014/chart" uri="{C3380CC4-5D6E-409C-BE32-E72D297353CC}">
              <c16:uniqueId val="{00000006-DBA5-45FD-80A4-FDBD7C22CD5A}"/>
            </c:ext>
          </c:extLst>
        </c:ser>
        <c:ser>
          <c:idx val="9"/>
          <c:order val="9"/>
          <c:tx>
            <c:strRef>
              <c:f>'eğitimli personel'!$K$1</c:f>
              <c:strCache>
                <c:ptCount val="1"/>
                <c:pt idx="0">
                  <c:v>Kaza Sıklık Oranı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'eğitimli personel'!$A$5:$A$9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  <c:extLst/>
            </c:numRef>
          </c:cat>
          <c:val>
            <c:numRef>
              <c:f>'eğitimli personel'!$K$5:$K$9</c:f>
              <c:extLst/>
            </c:numRef>
          </c:val>
          <c:extLst>
            <c:ext xmlns:c16="http://schemas.microsoft.com/office/drawing/2014/chart" uri="{C3380CC4-5D6E-409C-BE32-E72D297353CC}">
              <c16:uniqueId val="{00000007-DBA5-45FD-80A4-FDBD7C22CD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632346272"/>
        <c:axId val="1632345440"/>
      </c:barChart>
      <c:barChart>
        <c:barDir val="col"/>
        <c:grouping val="stacked"/>
        <c:varyColors val="0"/>
        <c:ser>
          <c:idx val="0"/>
          <c:order val="0"/>
          <c:tx>
            <c:strRef>
              <c:f>'eğitimli personel'!$B$1</c:f>
              <c:strCache>
                <c:ptCount val="1"/>
                <c:pt idx="0">
                  <c:v>Personel Sayısı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7190954528664332E-17"/>
                  <c:y val="-0.2854672400373487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DBA5-45FD-80A4-FDBD7C22CD5A}"/>
                </c:ext>
              </c:extLst>
            </c:dLbl>
            <c:dLbl>
              <c:idx val="1"/>
              <c:layout>
                <c:manualLayout>
                  <c:x val="-3.750797044371929E-3"/>
                  <c:y val="-0.3163988522995013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DBA5-45FD-80A4-FDBD7C22CD5A}"/>
                </c:ext>
              </c:extLst>
            </c:dLbl>
            <c:dLbl>
              <c:idx val="2"/>
              <c:layout>
                <c:manualLayout>
                  <c:x val="-1.8753985221859645E-3"/>
                  <c:y val="-0.3351875803574982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DBA5-45FD-80A4-FDBD7C22CD5A}"/>
                </c:ext>
              </c:extLst>
            </c:dLbl>
            <c:dLbl>
              <c:idx val="3"/>
              <c:layout>
                <c:manualLayout>
                  <c:x val="5.626195566557894E-3"/>
                  <c:y val="-0.3743610364984296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BA5-45FD-80A4-FDBD7C22CD5A}"/>
                </c:ext>
              </c:extLst>
            </c:dLbl>
            <c:dLbl>
              <c:idx val="4"/>
              <c:layout>
                <c:manualLayout>
                  <c:x val="-1.8753985221859645E-3"/>
                  <c:y val="-0.408078455294495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BA5-45FD-80A4-FDBD7C22CD5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rgbClr val="336699"/>
                    </a:solidFill>
                    <a:latin typeface="+mn-lt"/>
                    <a:ea typeface="+mn-ea"/>
                    <a:cs typeface="+mn-cs"/>
                  </a:defRPr>
                </a:pPr>
                <a:endParaRPr lang="tr-T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'eğitimli personel'!$A$5:$A$9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  <c:extLst/>
            </c:numRef>
          </c:cat>
          <c:val>
            <c:numRef>
              <c:f>'eğitimli personel'!$B$5:$B$9</c:f>
              <c:numCache>
                <c:formatCode>#,##0</c:formatCode>
                <c:ptCount val="5"/>
                <c:pt idx="0">
                  <c:v>15600.75</c:v>
                </c:pt>
                <c:pt idx="1">
                  <c:v>16735.5</c:v>
                </c:pt>
                <c:pt idx="2">
                  <c:v>18978.333333333332</c:v>
                </c:pt>
                <c:pt idx="3">
                  <c:v>21533.333333333332</c:v>
                </c:pt>
                <c:pt idx="4">
                  <c:v>22468.090909090908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A-DBA5-45FD-80A4-FDBD7C22CD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1632346272"/>
        <c:axId val="1632345440"/>
      </c:barChart>
      <c:barChart>
        <c:barDir val="col"/>
        <c:grouping val="clustered"/>
        <c:varyColors val="0"/>
        <c:ser>
          <c:idx val="10"/>
          <c:order val="10"/>
          <c:tx>
            <c:strRef>
              <c:f>'eğitimli personel'!$L$1</c:f>
              <c:strCache>
                <c:ptCount val="1"/>
                <c:pt idx="0">
                  <c:v>Eğitim Alan Personel Sayısı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tr-T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'eğitimli personel'!$A$5:$A$9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  <c:extLst/>
            </c:numRef>
          </c:cat>
          <c:val>
            <c:numRef>
              <c:f>'eğitimli personel'!$L$5:$L$9</c:f>
              <c:numCache>
                <c:formatCode>#,##0</c:formatCode>
                <c:ptCount val="5"/>
                <c:pt idx="0">
                  <c:v>9879</c:v>
                </c:pt>
                <c:pt idx="1">
                  <c:v>15699</c:v>
                </c:pt>
                <c:pt idx="2">
                  <c:v>18311</c:v>
                </c:pt>
                <c:pt idx="3">
                  <c:v>12686</c:v>
                </c:pt>
                <c:pt idx="4">
                  <c:v>9618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10-DBA5-45FD-80A4-FDBD7C22CD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632346272"/>
        <c:axId val="1632345440"/>
      </c:barChart>
      <c:lineChart>
        <c:grouping val="standard"/>
        <c:varyColors val="0"/>
        <c:ser>
          <c:idx val="1"/>
          <c:order val="1"/>
          <c:tx>
            <c:strRef>
              <c:f>'eğitimli personel'!$C$1</c:f>
              <c:strCache>
                <c:ptCount val="1"/>
                <c:pt idx="0">
                  <c:v>Toplam İş Kazası Sayısı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2"/>
              <c:layout>
                <c:manualLayout>
                  <c:x val="-4.1211956359624061E-2"/>
                  <c:y val="-8.253401451074782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DBA5-45FD-80A4-FDBD7C22CD5A}"/>
                </c:ext>
              </c:extLst>
            </c:dLbl>
            <c:dLbl>
              <c:idx val="4"/>
              <c:layout>
                <c:manualLayout>
                  <c:x val="1.504999930595474E-2"/>
                  <c:y val="3.92760835463811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DBA5-45FD-80A4-FDBD7C22CD5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endParaRPr lang="tr-T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'eğitimli personel'!$A$5:$A$9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  <c:extLst/>
            </c:numRef>
          </c:cat>
          <c:val>
            <c:numRef>
              <c:f>'eğitimli personel'!$C$5:$C$9</c:f>
              <c:numCache>
                <c:formatCode>#,##0</c:formatCode>
                <c:ptCount val="5"/>
                <c:pt idx="0" formatCode="General">
                  <c:v>744</c:v>
                </c:pt>
                <c:pt idx="1">
                  <c:v>1285</c:v>
                </c:pt>
                <c:pt idx="2">
                  <c:v>1314</c:v>
                </c:pt>
                <c:pt idx="3">
                  <c:v>1492</c:v>
                </c:pt>
                <c:pt idx="4">
                  <c:v>1397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11-DBA5-45FD-80A4-FDBD7C22CD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46763903"/>
        <c:axId val="1846765567"/>
      </c:lineChart>
      <c:catAx>
        <c:axId val="1632346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1632345440"/>
        <c:crosses val="autoZero"/>
        <c:auto val="1"/>
        <c:lblAlgn val="ctr"/>
        <c:lblOffset val="100"/>
        <c:noMultiLvlLbl val="0"/>
      </c:catAx>
      <c:valAx>
        <c:axId val="1632345440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1632346272"/>
        <c:crosses val="autoZero"/>
        <c:crossBetween val="between"/>
      </c:valAx>
      <c:valAx>
        <c:axId val="1846765567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1846763903"/>
        <c:crosses val="max"/>
        <c:crossBetween val="between"/>
      </c:valAx>
      <c:catAx>
        <c:axId val="18467639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84676556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tr-T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tr-T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6985452599196683E-2"/>
          <c:y val="1.950947603121516E-2"/>
          <c:w val="0.84099133199287013"/>
          <c:h val="0.84093259245604335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'[Microsoft PowerPoint uygulamasında grafik]eğitim saati iş kazası artış'!$B$1</c:f>
              <c:strCache>
                <c:ptCount val="1"/>
                <c:pt idx="0">
                  <c:v>Toplam Eğitim Saati</c:v>
                </c:pt>
              </c:strCache>
            </c:strRef>
          </c:tx>
          <c:spPr>
            <a:solidFill>
              <a:srgbClr val="33669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070C0"/>
                    </a:solidFill>
                    <a:latin typeface="+mn-lt"/>
                    <a:ea typeface="+mn-ea"/>
                    <a:cs typeface="+mn-cs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'[Microsoft PowerPoint uygulamasında grafik]eğitim saati iş kazası artış'!$A$2:$A$6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'[Microsoft PowerPoint uygulamasında grafik]eğitim saati iş kazası artış'!$B$2:$B$6</c:f>
              <c:numCache>
                <c:formatCode>#,##0</c:formatCode>
                <c:ptCount val="5"/>
                <c:pt idx="0">
                  <c:v>96900</c:v>
                </c:pt>
                <c:pt idx="1">
                  <c:v>149896</c:v>
                </c:pt>
                <c:pt idx="2">
                  <c:v>173964</c:v>
                </c:pt>
                <c:pt idx="3">
                  <c:v>125868</c:v>
                </c:pt>
                <c:pt idx="4">
                  <c:v>100073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8E-4678-AA6D-8DAA30455E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970128848"/>
        <c:axId val="197014632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'[Microsoft PowerPoint uygulamasında grafik]eğitim saati iş kazası artış'!$A$1</c15:sqref>
                        </c15:formulaRef>
                      </c:ext>
                    </c:extLst>
                    <c:strCache>
                      <c:ptCount val="1"/>
                      <c:pt idx="0">
                        <c:v>Yıl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>
                      <c:ext uri="{02D57815-91ED-43cb-92C2-25804820EDAC}">
                        <c15:formulaRef>
                          <c15:sqref>'[Microsoft PowerPoint uygulamasında grafik]eğitim saati iş kazası artış'!$A$2:$A$6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2021</c:v>
                      </c:pt>
                      <c:pt idx="1">
                        <c:v>2022</c:v>
                      </c:pt>
                      <c:pt idx="2">
                        <c:v>2023</c:v>
                      </c:pt>
                      <c:pt idx="3">
                        <c:v>2024</c:v>
                      </c:pt>
                      <c:pt idx="4">
                        <c:v>2025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'[Microsoft PowerPoint uygulamasında grafik]eğitim saati iş kazası artış'!$A$2:$A$6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2021</c:v>
                      </c:pt>
                      <c:pt idx="1">
                        <c:v>2022</c:v>
                      </c:pt>
                      <c:pt idx="2">
                        <c:v>2023</c:v>
                      </c:pt>
                      <c:pt idx="3">
                        <c:v>2024</c:v>
                      </c:pt>
                      <c:pt idx="4">
                        <c:v>2025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7-0B8E-4678-AA6D-8DAA30455E55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1"/>
          <c:order val="1"/>
          <c:tx>
            <c:strRef>
              <c:f>'eğitim saati iş kazası artış'!#REF!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'eğitim saati iş kazası artış'!#REF!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B8E-4678-AA6D-8DAA30455E55}"/>
            </c:ext>
          </c:extLst>
        </c:ser>
        <c:ser>
          <c:idx val="3"/>
          <c:order val="3"/>
          <c:tx>
            <c:strRef>
              <c:f>'[Microsoft PowerPoint uygulamasında grafik]eğitim saati iş kazası artış'!$C$1</c:f>
              <c:strCache>
                <c:ptCount val="1"/>
                <c:pt idx="0">
                  <c:v>Kaza Ağırlık Oranı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3.2086959305221235E-2"/>
                  <c:y val="-4.844383872858916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5835500838101846E-2"/>
                      <c:h val="4.481977920698843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0B8E-4678-AA6D-8DAA30455E55}"/>
                </c:ext>
              </c:extLst>
            </c:dLbl>
            <c:dLbl>
              <c:idx val="2"/>
              <c:layout>
                <c:manualLayout>
                  <c:x val="3.0274826709605566E-2"/>
                  <c:y val="-4.69971331578907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B8E-4678-AA6D-8DAA30455E55}"/>
                </c:ext>
              </c:extLst>
            </c:dLbl>
            <c:dLbl>
              <c:idx val="3"/>
              <c:layout>
                <c:manualLayout>
                  <c:x val="1.7798343093362538E-2"/>
                  <c:y val="3.3444749044603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B8E-4678-AA6D-8DAA30455E55}"/>
                </c:ext>
              </c:extLst>
            </c:dLbl>
            <c:dLbl>
              <c:idx val="6"/>
              <c:layout>
                <c:manualLayout>
                  <c:x val="8.164931618697694E-3"/>
                  <c:y val="3.34448160535117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B8E-4678-AA6D-8DAA30455E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'[Microsoft PowerPoint uygulamasında grafik]eğitim saati iş kazası artış'!$C$2:$C$6</c:f>
              <c:numCache>
                <c:formatCode>General</c:formatCode>
                <c:ptCount val="5"/>
                <c:pt idx="0">
                  <c:v>2.39</c:v>
                </c:pt>
                <c:pt idx="1">
                  <c:v>0.56999999999999995</c:v>
                </c:pt>
                <c:pt idx="2">
                  <c:v>0.56000000000000005</c:v>
                </c:pt>
                <c:pt idx="3">
                  <c:v>0.56999999999999995</c:v>
                </c:pt>
                <c:pt idx="4">
                  <c:v>2.3199999999999998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0B8E-4678-AA6D-8DAA30455E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70129680"/>
        <c:axId val="1970129264"/>
      </c:lineChart>
      <c:catAx>
        <c:axId val="19701288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1970146320"/>
        <c:crosses val="autoZero"/>
        <c:auto val="1"/>
        <c:lblAlgn val="ctr"/>
        <c:lblOffset val="100"/>
        <c:noMultiLvlLbl val="0"/>
      </c:catAx>
      <c:valAx>
        <c:axId val="1970146320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1970128848"/>
        <c:crosses val="autoZero"/>
        <c:crossBetween val="between"/>
      </c:valAx>
      <c:valAx>
        <c:axId val="1970129264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1970129680"/>
        <c:crosses val="max"/>
        <c:crossBetween val="between"/>
      </c:valAx>
      <c:catAx>
        <c:axId val="1970129680"/>
        <c:scaling>
          <c:orientation val="minMax"/>
        </c:scaling>
        <c:delete val="1"/>
        <c:axPos val="b"/>
        <c:majorTickMark val="out"/>
        <c:minorTickMark val="none"/>
        <c:tickLblPos val="nextTo"/>
        <c:crossAx val="197012926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tr-T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tr-T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 dirty="0"/>
          </a:p>
        </p:txBody>
      </p:sp>
      <p:sp>
        <p:nvSpPr>
          <p:cNvPr id="3" name="Veri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AD335-90D3-450F-B16E-CE0F9DCB49A9}" type="datetimeFigureOut">
              <a:rPr lang="tr-TR" smtClean="0"/>
              <a:t>26.12.2025</a:t>
            </a:fld>
            <a:endParaRPr lang="tr-TR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AE072-D249-466B-8349-B74A46515A98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883928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 dirty="0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0E9023-0E6F-4A9B-8589-5C10B62341F6}" type="datetimeFigureOut">
              <a:rPr lang="tr-TR" smtClean="0"/>
              <a:t>26.12.2025</a:t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 dirty="0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917416-9FEA-4751-B124-6914C786EFC3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36087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E836-92E5-4986-AF55-43C370369A37}" type="datetime1">
              <a:rPr lang="tr-TR" smtClean="0"/>
              <a:t>26.12.2025</a:t>
            </a:fld>
            <a:endParaRPr lang="tr-TR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27C1F-03D4-4AB1-B999-393872BB444E}" type="slidenum">
              <a:rPr lang="tr-TR" smtClean="0"/>
              <a:t>‹#›</a:t>
            </a:fld>
            <a:endParaRPr lang="tr-TR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732D45B9-D632-1753-5804-45851F35DF16}"/>
              </a:ext>
            </a:extLst>
          </p:cNvPr>
          <p:cNvSpPr/>
          <p:nvPr userDrawn="1"/>
        </p:nvSpPr>
        <p:spPr>
          <a:xfrm>
            <a:off x="9022080" y="5609996"/>
            <a:ext cx="3067050" cy="1335142"/>
          </a:xfrm>
          <a:custGeom>
            <a:avLst/>
            <a:gdLst/>
            <a:ahLst/>
            <a:cxnLst/>
            <a:rect l="l" t="t" r="r" b="b"/>
            <a:pathLst>
              <a:path w="3623247" h="2198811">
                <a:moveTo>
                  <a:pt x="0" y="0"/>
                </a:moveTo>
                <a:lnTo>
                  <a:pt x="3623247" y="0"/>
                </a:lnTo>
                <a:lnTo>
                  <a:pt x="3623247" y="2198810"/>
                </a:lnTo>
                <a:lnTo>
                  <a:pt x="0" y="2198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881" t="-33616" r="-12611" b="-37999"/>
            </a:stretch>
          </a:blipFill>
        </p:spPr>
        <p:txBody>
          <a:bodyPr/>
          <a:lstStyle/>
          <a:p>
            <a:pPr marL="0" marR="0" lvl="0" indent="0" algn="l" defTabSz="990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14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13" name="Image">
            <a:extLst>
              <a:ext uri="{FF2B5EF4-FFF2-40B4-BE49-F238E27FC236}">
                <a16:creationId xmlns:a16="http://schemas.microsoft.com/office/drawing/2014/main" id="{4DC1FD7F-C3DA-AF41-969D-194C827B8C3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552"/>
            <a:ext cx="3018060" cy="5998255"/>
          </a:xfrm>
          <a:prstGeom prst="rect">
            <a:avLst/>
          </a:prstGeom>
        </p:spPr>
      </p:pic>
      <p:grpSp>
        <p:nvGrpSpPr>
          <p:cNvPr id="14" name="Grup 13"/>
          <p:cNvGrpSpPr/>
          <p:nvPr userDrawn="1"/>
        </p:nvGrpSpPr>
        <p:grpSpPr>
          <a:xfrm>
            <a:off x="0" y="0"/>
            <a:ext cx="12192000" cy="4860065"/>
            <a:chOff x="0" y="0"/>
            <a:chExt cx="12192000" cy="4720855"/>
          </a:xfrm>
        </p:grpSpPr>
        <p:sp>
          <p:nvSpPr>
            <p:cNvPr id="15" name="object 4">
              <a:extLst>
                <a:ext uri="{FF2B5EF4-FFF2-40B4-BE49-F238E27FC236}">
                  <a16:creationId xmlns:a16="http://schemas.microsoft.com/office/drawing/2014/main" id="{FB92FBA9-64E1-A045-A54B-F9574CB3E583}"/>
                </a:ext>
              </a:extLst>
            </p:cNvPr>
            <p:cNvSpPr/>
            <p:nvPr/>
          </p:nvSpPr>
          <p:spPr>
            <a:xfrm>
              <a:off x="0" y="0"/>
              <a:ext cx="12192000" cy="4720855"/>
            </a:xfrm>
            <a:custGeom>
              <a:avLst/>
              <a:gdLst/>
              <a:ahLst/>
              <a:cxnLst/>
              <a:rect l="l" t="t" r="r" b="b"/>
              <a:pathLst>
                <a:path w="24384000" h="9144000">
                  <a:moveTo>
                    <a:pt x="0" y="9144000"/>
                  </a:moveTo>
                  <a:lnTo>
                    <a:pt x="0" y="0"/>
                  </a:lnTo>
                  <a:lnTo>
                    <a:pt x="24384000" y="0"/>
                  </a:lnTo>
                  <a:lnTo>
                    <a:pt x="24384000" y="9144000"/>
                  </a:lnTo>
                  <a:lnTo>
                    <a:pt x="0" y="9144000"/>
                  </a:lnTo>
                  <a:close/>
                </a:path>
              </a:pathLst>
            </a:custGeom>
            <a:solidFill>
              <a:srgbClr val="E2231A"/>
            </a:solidFill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Text Placeholder 2">
              <a:extLst>
                <a:ext uri="{FF2B5EF4-FFF2-40B4-BE49-F238E27FC236}">
                  <a16:creationId xmlns:a16="http://schemas.microsoft.com/office/drawing/2014/main" id="{F9925244-A445-C143-AA6A-2AE24D242EB5}"/>
                </a:ext>
              </a:extLst>
            </p:cNvPr>
            <p:cNvSpPr txBox="1">
              <a:spLocks/>
            </p:cNvSpPr>
            <p:nvPr/>
          </p:nvSpPr>
          <p:spPr>
            <a:xfrm>
              <a:off x="1283953" y="1498793"/>
              <a:ext cx="8412043" cy="76915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6290" b="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7" name="Metin kutusu 16"/>
            <p:cNvSpPr txBox="1"/>
            <p:nvPr/>
          </p:nvSpPr>
          <p:spPr>
            <a:xfrm>
              <a:off x="2985351" y="2688330"/>
              <a:ext cx="844464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tr-TR" sz="7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8" name="Image">
            <a:extLst>
              <a:ext uri="{FF2B5EF4-FFF2-40B4-BE49-F238E27FC236}">
                <a16:creationId xmlns:a16="http://schemas.microsoft.com/office/drawing/2014/main" id="{4DC1FD7F-C3DA-AF41-969D-194C827B8C3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31"/>
            <a:ext cx="3018060" cy="599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960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2C356-DF00-49D1-84F7-37867CF2EADF}" type="datetime1">
              <a:rPr lang="tr-TR" smtClean="0"/>
              <a:t>26.12.2025</a:t>
            </a:fld>
            <a:endParaRPr lang="tr-TR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27C1F-03D4-4AB1-B999-393872BB444E}" type="slidenum">
              <a:rPr lang="tr-TR" smtClean="0"/>
              <a:t>‹#›</a:t>
            </a:fld>
            <a:endParaRPr lang="tr-TR" dirty="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732D45B9-D632-1753-5804-45851F35DF16}"/>
              </a:ext>
            </a:extLst>
          </p:cNvPr>
          <p:cNvSpPr/>
          <p:nvPr userDrawn="1"/>
        </p:nvSpPr>
        <p:spPr>
          <a:xfrm>
            <a:off x="0" y="5509392"/>
            <a:ext cx="3067050" cy="1335142"/>
          </a:xfrm>
          <a:custGeom>
            <a:avLst/>
            <a:gdLst/>
            <a:ahLst/>
            <a:cxnLst/>
            <a:rect l="l" t="t" r="r" b="b"/>
            <a:pathLst>
              <a:path w="3623247" h="2198811">
                <a:moveTo>
                  <a:pt x="0" y="0"/>
                </a:moveTo>
                <a:lnTo>
                  <a:pt x="3623247" y="0"/>
                </a:lnTo>
                <a:lnTo>
                  <a:pt x="3623247" y="2198810"/>
                </a:lnTo>
                <a:lnTo>
                  <a:pt x="0" y="2198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881" t="-33616" r="-12611" b="-37999"/>
            </a:stretch>
          </a:blipFill>
        </p:spPr>
        <p:txBody>
          <a:bodyPr/>
          <a:lstStyle/>
          <a:p>
            <a:pPr marL="0" marR="0" lvl="0" indent="0" algn="l" defTabSz="990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14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11" name="Google Shape;16;p2"/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9170894" y="1963271"/>
            <a:ext cx="3021106" cy="48947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9923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21BD-DEE4-4D59-A0B4-BE6653D668F0}" type="datetime1">
              <a:rPr lang="tr-TR" smtClean="0"/>
              <a:t>26.12.2025</a:t>
            </a:fld>
            <a:endParaRPr lang="tr-TR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27C1F-03D4-4AB1-B999-393872BB444E}" type="slidenum">
              <a:rPr lang="tr-TR" smtClean="0"/>
              <a:t>‹#›</a:t>
            </a:fld>
            <a:endParaRPr lang="tr-TR" dirty="0"/>
          </a:p>
        </p:txBody>
      </p:sp>
      <p:pic>
        <p:nvPicPr>
          <p:cNvPr id="7" name="Google Shape;16;p2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170894" y="1963271"/>
            <a:ext cx="3021106" cy="489472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732D45B9-D632-1753-5804-45851F35DF16}"/>
              </a:ext>
            </a:extLst>
          </p:cNvPr>
          <p:cNvSpPr/>
          <p:nvPr userDrawn="1"/>
        </p:nvSpPr>
        <p:spPr>
          <a:xfrm>
            <a:off x="0" y="5509392"/>
            <a:ext cx="3067050" cy="1335142"/>
          </a:xfrm>
          <a:custGeom>
            <a:avLst/>
            <a:gdLst/>
            <a:ahLst/>
            <a:cxnLst/>
            <a:rect l="l" t="t" r="r" b="b"/>
            <a:pathLst>
              <a:path w="3623247" h="2198811">
                <a:moveTo>
                  <a:pt x="0" y="0"/>
                </a:moveTo>
                <a:lnTo>
                  <a:pt x="3623247" y="0"/>
                </a:lnTo>
                <a:lnTo>
                  <a:pt x="3623247" y="2198810"/>
                </a:lnTo>
                <a:lnTo>
                  <a:pt x="0" y="2198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881" t="-33616" r="-12611" b="-37999"/>
            </a:stretch>
          </a:blipFill>
        </p:spPr>
        <p:txBody>
          <a:bodyPr/>
          <a:lstStyle/>
          <a:p>
            <a:pPr marL="0" marR="0" lvl="0" indent="0" algn="l" defTabSz="990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14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76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1999A-AC9B-44F8-8B5A-1D818840632F}" type="datetime1">
              <a:rPr lang="tr-TR" smtClean="0"/>
              <a:t>26.12.2025</a:t>
            </a:fld>
            <a:endParaRPr lang="tr-TR" dirty="0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27C1F-03D4-4AB1-B999-393872BB444E}" type="slidenum">
              <a:rPr lang="tr-TR" smtClean="0"/>
              <a:t>‹#›</a:t>
            </a:fld>
            <a:endParaRPr lang="tr-TR" dirty="0"/>
          </a:p>
        </p:txBody>
      </p:sp>
      <p:pic>
        <p:nvPicPr>
          <p:cNvPr id="8" name="Google Shape;16;p2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170894" y="1963271"/>
            <a:ext cx="3021106" cy="489472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732D45B9-D632-1753-5804-45851F35DF16}"/>
              </a:ext>
            </a:extLst>
          </p:cNvPr>
          <p:cNvSpPr/>
          <p:nvPr userDrawn="1"/>
        </p:nvSpPr>
        <p:spPr>
          <a:xfrm>
            <a:off x="0" y="5509392"/>
            <a:ext cx="3067050" cy="1335142"/>
          </a:xfrm>
          <a:custGeom>
            <a:avLst/>
            <a:gdLst/>
            <a:ahLst/>
            <a:cxnLst/>
            <a:rect l="l" t="t" r="r" b="b"/>
            <a:pathLst>
              <a:path w="3623247" h="2198811">
                <a:moveTo>
                  <a:pt x="0" y="0"/>
                </a:moveTo>
                <a:lnTo>
                  <a:pt x="3623247" y="0"/>
                </a:lnTo>
                <a:lnTo>
                  <a:pt x="3623247" y="2198810"/>
                </a:lnTo>
                <a:lnTo>
                  <a:pt x="0" y="2198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881" t="-33616" r="-12611" b="-37999"/>
            </a:stretch>
          </a:blipFill>
        </p:spPr>
        <p:txBody>
          <a:bodyPr/>
          <a:lstStyle/>
          <a:p>
            <a:pPr marL="0" marR="0" lvl="0" indent="0" algn="l" defTabSz="990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14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921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99135-7F79-40FA-BD18-9E957FDF546B}" type="datetime1">
              <a:rPr lang="tr-TR" smtClean="0"/>
              <a:t>26.12.2025</a:t>
            </a:fld>
            <a:endParaRPr lang="tr-TR" dirty="0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27C1F-03D4-4AB1-B999-393872BB444E}" type="slidenum">
              <a:rPr lang="tr-TR" smtClean="0"/>
              <a:t>‹#›</a:t>
            </a:fld>
            <a:endParaRPr lang="tr-TR" dirty="0"/>
          </a:p>
        </p:txBody>
      </p:sp>
      <p:pic>
        <p:nvPicPr>
          <p:cNvPr id="10" name="Google Shape;16;p2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170894" y="1963271"/>
            <a:ext cx="3021106" cy="489472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Freeform 5">
            <a:extLst>
              <a:ext uri="{FF2B5EF4-FFF2-40B4-BE49-F238E27FC236}">
                <a16:creationId xmlns:a16="http://schemas.microsoft.com/office/drawing/2014/main" id="{732D45B9-D632-1753-5804-45851F35DF16}"/>
              </a:ext>
            </a:extLst>
          </p:cNvPr>
          <p:cNvSpPr/>
          <p:nvPr userDrawn="1"/>
        </p:nvSpPr>
        <p:spPr>
          <a:xfrm>
            <a:off x="0" y="5509392"/>
            <a:ext cx="3067050" cy="1335142"/>
          </a:xfrm>
          <a:custGeom>
            <a:avLst/>
            <a:gdLst/>
            <a:ahLst/>
            <a:cxnLst/>
            <a:rect l="l" t="t" r="r" b="b"/>
            <a:pathLst>
              <a:path w="3623247" h="2198811">
                <a:moveTo>
                  <a:pt x="0" y="0"/>
                </a:moveTo>
                <a:lnTo>
                  <a:pt x="3623247" y="0"/>
                </a:lnTo>
                <a:lnTo>
                  <a:pt x="3623247" y="2198810"/>
                </a:lnTo>
                <a:lnTo>
                  <a:pt x="0" y="2198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881" t="-33616" r="-12611" b="-37999"/>
            </a:stretch>
          </a:blipFill>
        </p:spPr>
        <p:txBody>
          <a:bodyPr/>
          <a:lstStyle/>
          <a:p>
            <a:pPr marL="0" marR="0" lvl="0" indent="0" algn="l" defTabSz="990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14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140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20C22-AC45-4CFF-8D83-A5A96F929440}" type="datetime1">
              <a:rPr lang="tr-TR" smtClean="0"/>
              <a:t>26.12.2025</a:t>
            </a:fld>
            <a:endParaRPr lang="tr-TR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27C1F-03D4-4AB1-B999-393872BB444E}" type="slidenum">
              <a:rPr lang="tr-TR" smtClean="0"/>
              <a:t>‹#›</a:t>
            </a:fld>
            <a:endParaRPr lang="tr-TR" dirty="0"/>
          </a:p>
        </p:txBody>
      </p:sp>
      <p:pic>
        <p:nvPicPr>
          <p:cNvPr id="6" name="Google Shape;16;p2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170894" y="1963271"/>
            <a:ext cx="3021106" cy="489472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Freeform 5">
            <a:extLst>
              <a:ext uri="{FF2B5EF4-FFF2-40B4-BE49-F238E27FC236}">
                <a16:creationId xmlns:a16="http://schemas.microsoft.com/office/drawing/2014/main" id="{732D45B9-D632-1753-5804-45851F35DF16}"/>
              </a:ext>
            </a:extLst>
          </p:cNvPr>
          <p:cNvSpPr/>
          <p:nvPr userDrawn="1"/>
        </p:nvSpPr>
        <p:spPr>
          <a:xfrm>
            <a:off x="0" y="5509392"/>
            <a:ext cx="3067050" cy="1335142"/>
          </a:xfrm>
          <a:custGeom>
            <a:avLst/>
            <a:gdLst/>
            <a:ahLst/>
            <a:cxnLst/>
            <a:rect l="l" t="t" r="r" b="b"/>
            <a:pathLst>
              <a:path w="3623247" h="2198811">
                <a:moveTo>
                  <a:pt x="0" y="0"/>
                </a:moveTo>
                <a:lnTo>
                  <a:pt x="3623247" y="0"/>
                </a:lnTo>
                <a:lnTo>
                  <a:pt x="3623247" y="2198810"/>
                </a:lnTo>
                <a:lnTo>
                  <a:pt x="0" y="2198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881" t="-33616" r="-12611" b="-37999"/>
            </a:stretch>
          </a:blipFill>
        </p:spPr>
        <p:txBody>
          <a:bodyPr/>
          <a:lstStyle/>
          <a:p>
            <a:pPr marL="0" marR="0" lvl="0" indent="0" algn="l" defTabSz="990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14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709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6F06C-CA88-42FC-8307-CEF885A30B07}" type="datetime1">
              <a:rPr lang="tr-TR" smtClean="0"/>
              <a:t>26.12.2025</a:t>
            </a:fld>
            <a:endParaRPr lang="tr-TR" dirty="0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27C1F-03D4-4AB1-B999-393872BB444E}" type="slidenum">
              <a:rPr lang="tr-TR" smtClean="0"/>
              <a:t>‹#›</a:t>
            </a:fld>
            <a:endParaRPr lang="tr-TR" dirty="0"/>
          </a:p>
        </p:txBody>
      </p:sp>
      <p:pic>
        <p:nvPicPr>
          <p:cNvPr id="5" name="Google Shape;16;p2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170894" y="1963271"/>
            <a:ext cx="3021106" cy="489472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732D45B9-D632-1753-5804-45851F35DF16}"/>
              </a:ext>
            </a:extLst>
          </p:cNvPr>
          <p:cNvSpPr/>
          <p:nvPr userDrawn="1"/>
        </p:nvSpPr>
        <p:spPr>
          <a:xfrm>
            <a:off x="0" y="5509392"/>
            <a:ext cx="3067050" cy="1335142"/>
          </a:xfrm>
          <a:custGeom>
            <a:avLst/>
            <a:gdLst/>
            <a:ahLst/>
            <a:cxnLst/>
            <a:rect l="l" t="t" r="r" b="b"/>
            <a:pathLst>
              <a:path w="3623247" h="2198811">
                <a:moveTo>
                  <a:pt x="0" y="0"/>
                </a:moveTo>
                <a:lnTo>
                  <a:pt x="3623247" y="0"/>
                </a:lnTo>
                <a:lnTo>
                  <a:pt x="3623247" y="2198810"/>
                </a:lnTo>
                <a:lnTo>
                  <a:pt x="0" y="2198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881" t="-33616" r="-12611" b="-37999"/>
            </a:stretch>
          </a:blipFill>
        </p:spPr>
        <p:txBody>
          <a:bodyPr/>
          <a:lstStyle/>
          <a:p>
            <a:pPr marL="0" marR="0" lvl="0" indent="0" algn="l" defTabSz="990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14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752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D3C1-CE11-4F61-BA1E-66C980371E91}" type="datetime1">
              <a:rPr lang="tr-TR" smtClean="0"/>
              <a:t>26.12.2025</a:t>
            </a:fld>
            <a:endParaRPr lang="tr-TR" dirty="0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27C1F-03D4-4AB1-B999-393872BB444E}" type="slidenum">
              <a:rPr lang="tr-TR" smtClean="0"/>
              <a:t>‹#›</a:t>
            </a:fld>
            <a:endParaRPr lang="tr-TR" dirty="0"/>
          </a:p>
        </p:txBody>
      </p:sp>
      <p:pic>
        <p:nvPicPr>
          <p:cNvPr id="8" name="Google Shape;16;p2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170894" y="1963271"/>
            <a:ext cx="3021106" cy="489472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732D45B9-D632-1753-5804-45851F35DF16}"/>
              </a:ext>
            </a:extLst>
          </p:cNvPr>
          <p:cNvSpPr/>
          <p:nvPr userDrawn="1"/>
        </p:nvSpPr>
        <p:spPr>
          <a:xfrm>
            <a:off x="0" y="5509392"/>
            <a:ext cx="3067050" cy="1335142"/>
          </a:xfrm>
          <a:custGeom>
            <a:avLst/>
            <a:gdLst/>
            <a:ahLst/>
            <a:cxnLst/>
            <a:rect l="l" t="t" r="r" b="b"/>
            <a:pathLst>
              <a:path w="3623247" h="2198811">
                <a:moveTo>
                  <a:pt x="0" y="0"/>
                </a:moveTo>
                <a:lnTo>
                  <a:pt x="3623247" y="0"/>
                </a:lnTo>
                <a:lnTo>
                  <a:pt x="3623247" y="2198810"/>
                </a:lnTo>
                <a:lnTo>
                  <a:pt x="0" y="2198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881" t="-33616" r="-12611" b="-37999"/>
            </a:stretch>
          </a:blipFill>
        </p:spPr>
        <p:txBody>
          <a:bodyPr/>
          <a:lstStyle/>
          <a:p>
            <a:pPr marL="0" marR="0" lvl="0" indent="0" algn="l" defTabSz="990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14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71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0EF14-06F6-4F85-83A2-F8D2B4465ED1}" type="datetime1">
              <a:rPr lang="tr-TR" smtClean="0"/>
              <a:t>26.12.2025</a:t>
            </a:fld>
            <a:endParaRPr lang="tr-TR" dirty="0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27C1F-03D4-4AB1-B999-393872BB444E}" type="slidenum">
              <a:rPr lang="tr-TR" smtClean="0"/>
              <a:t>‹#›</a:t>
            </a:fld>
            <a:endParaRPr lang="tr-TR" dirty="0"/>
          </a:p>
        </p:txBody>
      </p:sp>
      <p:pic>
        <p:nvPicPr>
          <p:cNvPr id="8" name="Google Shape;16;p2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170894" y="1963271"/>
            <a:ext cx="3021106" cy="489472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732D45B9-D632-1753-5804-45851F35DF16}"/>
              </a:ext>
            </a:extLst>
          </p:cNvPr>
          <p:cNvSpPr/>
          <p:nvPr userDrawn="1"/>
        </p:nvSpPr>
        <p:spPr>
          <a:xfrm>
            <a:off x="0" y="5509392"/>
            <a:ext cx="3067050" cy="1335142"/>
          </a:xfrm>
          <a:custGeom>
            <a:avLst/>
            <a:gdLst/>
            <a:ahLst/>
            <a:cxnLst/>
            <a:rect l="l" t="t" r="r" b="b"/>
            <a:pathLst>
              <a:path w="3623247" h="2198811">
                <a:moveTo>
                  <a:pt x="0" y="0"/>
                </a:moveTo>
                <a:lnTo>
                  <a:pt x="3623247" y="0"/>
                </a:lnTo>
                <a:lnTo>
                  <a:pt x="3623247" y="2198810"/>
                </a:lnTo>
                <a:lnTo>
                  <a:pt x="0" y="2198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881" t="-33616" r="-12611" b="-37999"/>
            </a:stretch>
          </a:blipFill>
        </p:spPr>
        <p:txBody>
          <a:bodyPr/>
          <a:lstStyle/>
          <a:p>
            <a:pPr marL="0" marR="0" lvl="0" indent="0" algn="l" defTabSz="990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14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756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F4CA-4AF8-401C-9FE8-F16D847D7414}" type="datetime1">
              <a:rPr lang="tr-TR" smtClean="0"/>
              <a:t>26.12.2025</a:t>
            </a:fld>
            <a:endParaRPr lang="tr-TR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27C1F-03D4-4AB1-B999-393872BB444E}" type="slidenum">
              <a:rPr lang="tr-TR" smtClean="0"/>
              <a:t>‹#›</a:t>
            </a:fld>
            <a:endParaRPr lang="tr-TR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732D45B9-D632-1753-5804-45851F35DF16}"/>
              </a:ext>
            </a:extLst>
          </p:cNvPr>
          <p:cNvSpPr/>
          <p:nvPr userDrawn="1"/>
        </p:nvSpPr>
        <p:spPr>
          <a:xfrm>
            <a:off x="0" y="5599086"/>
            <a:ext cx="3067050" cy="1335142"/>
          </a:xfrm>
          <a:custGeom>
            <a:avLst/>
            <a:gdLst/>
            <a:ahLst/>
            <a:cxnLst/>
            <a:rect l="l" t="t" r="r" b="b"/>
            <a:pathLst>
              <a:path w="3623247" h="2198811">
                <a:moveTo>
                  <a:pt x="0" y="0"/>
                </a:moveTo>
                <a:lnTo>
                  <a:pt x="3623247" y="0"/>
                </a:lnTo>
                <a:lnTo>
                  <a:pt x="3623247" y="2198810"/>
                </a:lnTo>
                <a:lnTo>
                  <a:pt x="0" y="2198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881" t="-33616" r="-12611" b="-37999"/>
            </a:stretch>
          </a:blipFill>
        </p:spPr>
        <p:txBody>
          <a:bodyPr/>
          <a:lstStyle/>
          <a:p>
            <a:pPr marL="0" marR="0" lvl="0" indent="0" algn="l" defTabSz="990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14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58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>
            <a:extLst>
              <a:ext uri="{FF2B5EF4-FFF2-40B4-BE49-F238E27FC236}">
                <a16:creationId xmlns:a16="http://schemas.microsoft.com/office/drawing/2014/main" id="{A7BDB1AC-C853-764F-9F54-C3A1CED10180}"/>
              </a:ext>
            </a:extLst>
          </p:cNvPr>
          <p:cNvSpPr/>
          <p:nvPr userDrawn="1"/>
        </p:nvSpPr>
        <p:spPr>
          <a:xfrm>
            <a:off x="-762" y="0"/>
            <a:ext cx="12193524" cy="6858000"/>
          </a:xfrm>
          <a:custGeom>
            <a:avLst/>
            <a:gdLst/>
            <a:ahLst/>
            <a:cxnLst/>
            <a:rect l="l" t="t" r="r" b="b"/>
            <a:pathLst>
              <a:path w="24384000" h="13716000">
                <a:moveTo>
                  <a:pt x="0" y="13716000"/>
                </a:moveTo>
                <a:lnTo>
                  <a:pt x="0" y="0"/>
                </a:ln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E2231A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endParaRPr sz="900" dirty="0"/>
          </a:p>
        </p:txBody>
      </p:sp>
      <p:pic>
        <p:nvPicPr>
          <p:cNvPr id="9" name="Image">
            <a:extLst>
              <a:ext uri="{FF2B5EF4-FFF2-40B4-BE49-F238E27FC236}">
                <a16:creationId xmlns:a16="http://schemas.microsoft.com/office/drawing/2014/main" id="{C9B65C44-01EC-2F43-B327-C07BF5418C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807" y="1381958"/>
            <a:ext cx="3437193" cy="5476043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37A12D84-301F-9C46-A88F-E542D18016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200400"/>
            <a:ext cx="105156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53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SUNUM ADI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F0D89410-EB25-5F40-B042-C681A9E18D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032504"/>
            <a:ext cx="9144000" cy="387097"/>
          </a:xfrm>
        </p:spPr>
        <p:txBody>
          <a:bodyPr>
            <a:normAutofit/>
          </a:bodyPr>
          <a:lstStyle>
            <a:lvl1pPr marL="0" indent="0" algn="ctr">
              <a:buNone/>
              <a:defRPr sz="2125" b="1">
                <a:solidFill>
                  <a:schemeClr val="bg1"/>
                </a:solidFill>
              </a:defRPr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 dirty="0"/>
              <a:t>23 NİSAN 2020</a:t>
            </a:r>
          </a:p>
        </p:txBody>
      </p:sp>
      <p:pic>
        <p:nvPicPr>
          <p:cNvPr id="10" name="Picture 9" descr="isper disi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84" y="5193071"/>
            <a:ext cx="4128516" cy="123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72076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472EA-3133-4287-BCBF-507A903EDBB6}" type="datetime1">
              <a:rPr lang="tr-TR" smtClean="0"/>
              <a:t>26.12.2025</a:t>
            </a:fld>
            <a:endParaRPr lang="tr-TR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27C1F-03D4-4AB1-B999-393872BB444E}" type="slidenum">
              <a:rPr lang="tr-TR" smtClean="0"/>
              <a:t>‹#›</a:t>
            </a:fld>
            <a:endParaRPr lang="tr-TR" dirty="0"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A4713AD1-736F-ED41-96B2-9ECBA4BF2CD2}"/>
              </a:ext>
            </a:extLst>
          </p:cNvPr>
          <p:cNvSpPr/>
          <p:nvPr userDrawn="1"/>
        </p:nvSpPr>
        <p:spPr>
          <a:xfrm flipV="1">
            <a:off x="1737360" y="0"/>
            <a:ext cx="10454640" cy="230188"/>
          </a:xfrm>
          <a:custGeom>
            <a:avLst/>
            <a:gdLst/>
            <a:ahLst/>
            <a:cxnLst/>
            <a:rect l="l" t="t" r="r" b="b"/>
            <a:pathLst>
              <a:path w="22250388" h="304800">
                <a:moveTo>
                  <a:pt x="0" y="304800"/>
                </a:moveTo>
                <a:lnTo>
                  <a:pt x="0" y="0"/>
                </a:lnTo>
                <a:lnTo>
                  <a:pt x="22250388" y="0"/>
                </a:lnTo>
                <a:lnTo>
                  <a:pt x="22250388" y="304800"/>
                </a:lnTo>
                <a:lnTo>
                  <a:pt x="0" y="304800"/>
                </a:lnTo>
                <a:close/>
              </a:path>
            </a:pathLst>
          </a:custGeom>
          <a:solidFill>
            <a:srgbClr val="E2231A"/>
          </a:solidFill>
        </p:spPr>
        <p:txBody>
          <a:bodyPr wrap="square" lIns="0" tIns="0" rIns="0" bIns="0" rtlCol="0">
            <a:noAutofit/>
          </a:bodyPr>
          <a:lstStyle/>
          <a:p>
            <a:endParaRPr dirty="0">
              <a:solidFill>
                <a:srgbClr val="FEC2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098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344304"/>
            <a:ext cx="9144000" cy="1094309"/>
          </a:xfrm>
        </p:spPr>
        <p:txBody>
          <a:bodyPr>
            <a:noAutofit/>
          </a:bodyPr>
          <a:lstStyle/>
          <a:p>
            <a:r>
              <a:rPr lang="tr-TR" sz="8000" b="1" dirty="0">
                <a:solidFill>
                  <a:schemeClr val="bg1"/>
                </a:solidFill>
                <a:latin typeface="+mn-lt"/>
              </a:rPr>
              <a:t>İSPER AŞ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619534" y="2701286"/>
            <a:ext cx="9144000" cy="1655762"/>
          </a:xfrm>
        </p:spPr>
        <p:txBody>
          <a:bodyPr>
            <a:normAutofit/>
          </a:bodyPr>
          <a:lstStyle/>
          <a:p>
            <a:r>
              <a:rPr lang="tr-TR" sz="3200" b="1" i="1" dirty="0">
                <a:solidFill>
                  <a:schemeClr val="bg1"/>
                </a:solidFill>
              </a:rPr>
              <a:t>İSG EĞİTİMLERİ VE NORM KADRO DANIŞMANLIK HİZMETLERİ BİLGİ NOTU</a:t>
            </a:r>
          </a:p>
        </p:txBody>
      </p:sp>
    </p:spTree>
    <p:extLst>
      <p:ext uri="{BB962C8B-B14F-4D97-AF65-F5344CB8AC3E}">
        <p14:creationId xmlns:p14="http://schemas.microsoft.com/office/powerpoint/2010/main" val="3291420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52800"/>
            <a:ext cx="10515600" cy="739775"/>
          </a:xfrm>
        </p:spPr>
        <p:txBody>
          <a:bodyPr>
            <a:noAutofit/>
          </a:bodyPr>
          <a:lstStyle/>
          <a:p>
            <a:r>
              <a:rPr lang="tr-TR" sz="3600" i="1" dirty="0"/>
              <a:t>BÖLÜM BAŞLIĞI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SLAYT BAŞLIĞI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İçerik buraya gelecek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00000"/>
            <a:ext cx="9144000" cy="1200000"/>
          </a:xfrm>
        </p:spPr>
        <p:txBody>
          <a:bodyPr>
            <a:noAutofit/>
          </a:bodyPr>
          <a:lstStyle/>
          <a:p>
            <a:r>
              <a:rPr lang="tr-TR" sz="6000" b="1" dirty="0">
                <a:solidFill>
                  <a:schemeClr val="bg1"/>
                </a:solidFill>
                <a:latin typeface="+mn-lt"/>
              </a:rPr>
              <a:t>Teşekkürler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1297</TotalTime>
  <Words>1123</Words>
  <Application>Microsoft Office PowerPoint</Application>
  <PresentationFormat>Geniş ekran</PresentationFormat>
  <Paragraphs>253</Paragraphs>
  <Slides>16</Slides>
  <Notes>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Mark Pro Bold</vt:lpstr>
      <vt:lpstr>Office Teması</vt:lpstr>
      <vt:lpstr>İSPER AŞ</vt:lpstr>
      <vt:lpstr>TEMEL İŞ SAĞLIĞI GÜVENLİĞİ EĞİTİMLERİ İLE  İŞ KAZASI ANALİZİ</vt:lpstr>
      <vt:lpstr>PowerPoint Sunusu</vt:lpstr>
      <vt:lpstr>Personel ve İş Kazası Sayıları (2019-2025)</vt:lpstr>
      <vt:lpstr>İş Kazası ve Personel Artış Oranları</vt:lpstr>
      <vt:lpstr>İSG Eğitimi Alan Personel, Toplam Personel ve İş Kazası Sayıları</vt:lpstr>
      <vt:lpstr>Eğitim Saati ile Kaza Ağırlık Oranı</vt:lpstr>
      <vt:lpstr>AĞAÇ AŞ NORM KADRO ANALİZİ</vt:lpstr>
      <vt:lpstr>Çalışmanın Metodolojisi</vt:lpstr>
      <vt:lpstr>AĞAÇ AŞ Mevcut Organizasyon Şeması</vt:lpstr>
      <vt:lpstr>PowerPoint Sunusu</vt:lpstr>
      <vt:lpstr>Öneri 1 Organizasyon Tasarımı </vt:lpstr>
      <vt:lpstr>PowerPoint Sunusu</vt:lpstr>
      <vt:lpstr>Öneri 2  Organizasyon Tasarımı 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KÜBRA ÖZLEM USLU AYDIN</dc:creator>
  <cp:lastModifiedBy>Furkan AYDIN</cp:lastModifiedBy>
  <cp:revision>93</cp:revision>
  <dcterms:created xsi:type="dcterms:W3CDTF">2025-12-24T06:23:59Z</dcterms:created>
  <dcterms:modified xsi:type="dcterms:W3CDTF">2025-12-25T23:12:40Z</dcterms:modified>
</cp:coreProperties>
</file>